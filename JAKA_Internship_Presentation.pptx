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validation session, I prepared a simulation demonstration showing the complete software pipeline. I could not record the physical robot demonstration last week because I was preparing for a university certification, which required additional time. I plan to perform the real robot demonstration in the laboratory next week and upload the recording to the shared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microsoft.com/office/2007/relationships/media" Target="file:///C:\Users\Yosser\Downloads\screen-recording-2026-08-02-165735_RlZldRJW.mp4" TargetMode="External"/><Relationship Id="rId1" Type="http://schemas.openxmlformats.org/officeDocument/2006/relationships/video" Target="file:///C:\Users\Yosser\Downloads\screen-recording-2026-08-02-165735_RlZldRJW.mp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SUMMER INTERNSHIP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98755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Camera-Based Robot Alignment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Artificial Intelligence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3566160" cy="502920"/>
          </a:xfrm>
          <a:prstGeom prst="roundRect">
            <a:avLst>
              <a:gd name="adj" fmla="val 50909"/>
            </a:avLst>
          </a:prstGeom>
          <a:solidFill>
            <a:srgbClr val="1B263B"/>
          </a:solidFill>
          <a:ln w="15875">
            <a:solidFill>
              <a:srgbClr val="FB8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8620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ROBOTIC ARM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6400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Yosser Kallel
</a:t>
            </a:r>
            <a:r>
              <a:rPr lang="en-US" sz="120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Data Science  |  TEK-UP Univeristy
</a:t>
            </a:r>
            <a:r>
              <a:rPr lang="en-US" sz="120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Mohamed Amine Mansour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4846320"/>
            <a:ext cx="566928" cy="566928"/>
          </a:xfrm>
          <a:prstGeom prst="ellipse">
            <a:avLst/>
          </a:prstGeom>
          <a:solidFill>
            <a:srgbClr val="FB8500"/>
          </a:solidFill>
        </p:spPr>
      </p:sp>
      <p:sp>
        <p:nvSpPr>
          <p:cNvPr id="17" name="Text 15"/>
          <p:cNvSpPr/>
          <p:nvPr/>
        </p:nvSpPr>
        <p:spPr>
          <a:xfrm>
            <a:off x="8229600" y="48463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8375904" y="4992624"/>
            <a:ext cx="274320" cy="27432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7909560" y="548640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4846320"/>
            <a:ext cx="566928" cy="566928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21" name="Text 19"/>
          <p:cNvSpPr/>
          <p:nvPr/>
        </p:nvSpPr>
        <p:spPr>
          <a:xfrm>
            <a:off x="9372600" y="48463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10" dirty="0"/>
          </a:p>
        </p:txBody>
      </p:sp>
      <p:sp>
        <p:nvSpPr>
          <p:cNvPr id="22" name="Shape 20"/>
          <p:cNvSpPr/>
          <p:nvPr/>
        </p:nvSpPr>
        <p:spPr>
          <a:xfrm>
            <a:off x="9518904" y="4992624"/>
            <a:ext cx="274320" cy="27432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9052560" y="548640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515600" y="4846320"/>
            <a:ext cx="566928" cy="56692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25" name="Text 23"/>
          <p:cNvSpPr/>
          <p:nvPr/>
        </p:nvSpPr>
        <p:spPr>
          <a:xfrm>
            <a:off x="10515600" y="48463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10" dirty="0"/>
          </a:p>
        </p:txBody>
      </p:sp>
      <p:sp>
        <p:nvSpPr>
          <p:cNvPr id="26" name="Shape 24"/>
          <p:cNvSpPr/>
          <p:nvPr/>
        </p:nvSpPr>
        <p:spPr>
          <a:xfrm>
            <a:off x="10661904" y="4992624"/>
            <a:ext cx="274320" cy="27432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10195560" y="5486400"/>
            <a:ext cx="12070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850" dirty="0"/>
          </a:p>
        </p:txBody>
      </p:sp>
      <p:pic>
        <p:nvPicPr>
          <p:cNvPr id="38" name="Picture 37"/>
          <p:cNvPicPr/>
          <p:nvPr/>
        </p:nvPicPr>
        <p:blipFill>
          <a:blip r:embed="rId1"/>
          <a:stretch>
            <a:fillRect/>
          </a:stretch>
        </p:blipFill>
        <p:spPr>
          <a:xfrm>
            <a:off x="8375015" y="-102870"/>
            <a:ext cx="3816985" cy="1730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vision-based robotic system capable of: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Detecting objects using AI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10" name="Text 8"/>
          <p:cNvSpPr/>
          <p:nvPr/>
        </p:nvSpPr>
        <p:spPr>
          <a:xfrm>
            <a:off x="548640" y="29535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53512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Extracting object position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13" name="Text 11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575304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information through ROS2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FB8500"/>
          </a:solidFill>
        </p:spPr>
      </p:sp>
      <p:sp>
        <p:nvSpPr>
          <p:cNvPr id="16" name="Text 14"/>
          <p:cNvSpPr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19709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Moving the robotic arm toward the detected object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5193792"/>
            <a:ext cx="4846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Concept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4846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Camera  →  AI  →  Robot Motion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8000" y="1417320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</p:spPr>
      </p:sp>
      <p:sp>
        <p:nvSpPr>
          <p:cNvPr id="22" name="Shape 20"/>
          <p:cNvSpPr/>
          <p:nvPr/>
        </p:nvSpPr>
        <p:spPr>
          <a:xfrm>
            <a:off x="6858000" y="1417320"/>
            <a:ext cx="91440" cy="685800"/>
          </a:xfrm>
          <a:prstGeom prst="roundRect">
            <a:avLst/>
          </a:prstGeom>
          <a:solidFill>
            <a:srgbClr val="FB8500"/>
          </a:solidFill>
        </p:spPr>
      </p:sp>
      <p:sp>
        <p:nvSpPr>
          <p:cNvPr id="23" name="Text 21"/>
          <p:cNvSpPr/>
          <p:nvPr/>
        </p:nvSpPr>
        <p:spPr>
          <a:xfrm>
            <a:off x="7178040" y="1417320"/>
            <a:ext cx="4297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06840" y="2103120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0" y="2487168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</p:spPr>
      </p:sp>
      <p:sp>
        <p:nvSpPr>
          <p:cNvPr id="26" name="Shape 24"/>
          <p:cNvSpPr/>
          <p:nvPr/>
        </p:nvSpPr>
        <p:spPr>
          <a:xfrm>
            <a:off x="6858000" y="2487168"/>
            <a:ext cx="91440" cy="685800"/>
          </a:xfrm>
          <a:prstGeom prst="roundRect">
            <a:avLst/>
          </a:prstGeom>
          <a:solidFill>
            <a:srgbClr val="06D6A0"/>
          </a:solidFill>
        </p:spPr>
      </p:sp>
      <p:sp>
        <p:nvSpPr>
          <p:cNvPr id="27" name="Text 25"/>
          <p:cNvSpPr/>
          <p:nvPr/>
        </p:nvSpPr>
        <p:spPr>
          <a:xfrm>
            <a:off x="7178040" y="2487168"/>
            <a:ext cx="4297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Detection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06840" y="3172968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0" y="3557016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</p:spPr>
      </p:sp>
      <p:sp>
        <p:nvSpPr>
          <p:cNvPr id="30" name="Shape 28"/>
          <p:cNvSpPr/>
          <p:nvPr/>
        </p:nvSpPr>
        <p:spPr>
          <a:xfrm>
            <a:off x="6858000" y="3557016"/>
            <a:ext cx="91440" cy="685800"/>
          </a:xfrm>
          <a:prstGeom prst="roundRect">
            <a:avLst/>
          </a:prstGeom>
          <a:solidFill>
            <a:srgbClr val="3A86FF"/>
          </a:solidFill>
        </p:spPr>
      </p:sp>
      <p:sp>
        <p:nvSpPr>
          <p:cNvPr id="31" name="Text 29"/>
          <p:cNvSpPr/>
          <p:nvPr/>
        </p:nvSpPr>
        <p:spPr>
          <a:xfrm>
            <a:off x="7178040" y="3557016"/>
            <a:ext cx="4297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06840" y="4242816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58000" y="4626864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</p:spPr>
      </p:sp>
      <p:sp>
        <p:nvSpPr>
          <p:cNvPr id="34" name="Shape 32"/>
          <p:cNvSpPr/>
          <p:nvPr/>
        </p:nvSpPr>
        <p:spPr>
          <a:xfrm>
            <a:off x="6858000" y="4626864"/>
            <a:ext cx="91440" cy="685800"/>
          </a:xfrm>
          <a:prstGeom prst="roundRect">
            <a:avLst/>
          </a:prstGeom>
          <a:solidFill>
            <a:srgbClr val="FB8500"/>
          </a:solidFill>
        </p:spPr>
      </p:sp>
      <p:sp>
        <p:nvSpPr>
          <p:cNvPr id="35" name="Text 33"/>
          <p:cNvSpPr/>
          <p:nvPr/>
        </p:nvSpPr>
        <p:spPr>
          <a:xfrm>
            <a:off x="7178040" y="4626864"/>
            <a:ext cx="4297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Robot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640080"/>
          </a:xfrm>
          <a:prstGeom prst="roundRect">
            <a:avLst>
              <a:gd name="adj" fmla="val 12857"/>
            </a:avLst>
          </a:prstGeom>
          <a:solidFill>
            <a:srgbClr val="3A86FF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5394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OBJECTIVES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8" name="Text 6"/>
          <p:cNvSpPr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vision integration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11" name="Text 9"/>
          <p:cNvSpPr/>
          <p:nvPr/>
        </p:nvSpPr>
        <p:spPr>
          <a:xfrm>
            <a:off x="868680" y="3246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localization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14" name="Text 12"/>
          <p:cNvSpPr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 movement control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5074920"/>
            <a:ext cx="502920" cy="5029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17" name="Text 15"/>
          <p:cNvSpPr/>
          <p:nvPr/>
        </p:nvSpPr>
        <p:spPr>
          <a:xfrm>
            <a:off x="868680" y="50749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554480" y="507492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alignment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463040"/>
            <a:ext cx="5394960" cy="640080"/>
          </a:xfrm>
          <a:prstGeom prst="roundRect">
            <a:avLst>
              <a:gd name="adj" fmla="val 12857"/>
            </a:avLst>
          </a:prstGeom>
          <a:solidFill>
            <a:srgbClr val="06D6A0"/>
          </a:solidFill>
        </p:spPr>
      </p:sp>
      <p:sp>
        <p:nvSpPr>
          <p:cNvPr id="21" name="Text 19"/>
          <p:cNvSpPr/>
          <p:nvPr/>
        </p:nvSpPr>
        <p:spPr>
          <a:xfrm>
            <a:off x="6263640" y="1463040"/>
            <a:ext cx="5394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EXTENSIONS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2468880"/>
            <a:ext cx="502920" cy="50292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23" name="Text 21"/>
          <p:cNvSpPr/>
          <p:nvPr/>
        </p:nvSpPr>
        <p:spPr>
          <a:xfrm>
            <a:off x="6583680" y="24688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♦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269480" y="246888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YOLO-based smart detection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383280"/>
            <a:ext cx="502920" cy="50292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26" name="Text 24"/>
          <p:cNvSpPr/>
          <p:nvPr/>
        </p:nvSpPr>
        <p:spPr>
          <a:xfrm>
            <a:off x="6583680" y="3383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7269480" y="338328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monitoring and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4434840"/>
            <a:ext cx="47091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as stretch goals to strengthen the vision pipeline beyond baseline detection and control.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Roadmap — 4-Week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85900" y="1828800"/>
            <a:ext cx="731520" cy="7315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5" name="Text 3"/>
          <p:cNvSpPr/>
          <p:nvPr/>
        </p:nvSpPr>
        <p:spPr>
          <a:xfrm>
            <a:off x="1485900" y="18288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208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88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3A86FF"/>
          </a:solidFill>
        </p:spPr>
      </p:sp>
      <p:sp>
        <p:nvSpPr>
          <p:cNvPr id="8" name="Text 6"/>
          <p:cNvSpPr/>
          <p:nvPr/>
        </p:nvSpPr>
        <p:spPr>
          <a:xfrm>
            <a:off x="548640" y="2788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Setup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2331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setup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&amp; simulation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31820" y="34290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11980" y="1828800"/>
            <a:ext cx="731520" cy="73152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3" name="Text 11"/>
          <p:cNvSpPr/>
          <p:nvPr/>
        </p:nvSpPr>
        <p:spPr>
          <a:xfrm>
            <a:off x="4411980" y="18288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◉</a:t>
            </a:r>
            <a:endParaRPr lang="en-US" sz="2080" dirty="0"/>
          </a:p>
        </p:txBody>
      </p:sp>
      <p:sp>
        <p:nvSpPr>
          <p:cNvPr id="14" name="Shape 12"/>
          <p:cNvSpPr/>
          <p:nvPr/>
        </p:nvSpPr>
        <p:spPr>
          <a:xfrm>
            <a:off x="3474720" y="27889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788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</p:spPr>
      </p:sp>
      <p:sp>
        <p:nvSpPr>
          <p:cNvPr id="16" name="Text 14"/>
          <p:cNvSpPr/>
          <p:nvPr/>
        </p:nvSpPr>
        <p:spPr>
          <a:xfrm>
            <a:off x="3474720" y="2788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342900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3840480"/>
            <a:ext cx="2331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integration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57900" y="34290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38060" y="1828800"/>
            <a:ext cx="731520" cy="731520"/>
          </a:xfrm>
          <a:prstGeom prst="ellipse">
            <a:avLst/>
          </a:prstGeom>
          <a:solidFill>
            <a:srgbClr val="FB8500"/>
          </a:solidFill>
        </p:spPr>
      </p:sp>
      <p:sp>
        <p:nvSpPr>
          <p:cNvPr id="21" name="Text 19"/>
          <p:cNvSpPr/>
          <p:nvPr/>
        </p:nvSpPr>
        <p:spPr>
          <a:xfrm>
            <a:off x="7338060" y="18288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</a:t>
            </a:r>
            <a:endParaRPr lang="en-US" sz="2080" dirty="0"/>
          </a:p>
        </p:txBody>
      </p:sp>
      <p:sp>
        <p:nvSpPr>
          <p:cNvPr id="22" name="Shape 20"/>
          <p:cNvSpPr/>
          <p:nvPr/>
        </p:nvSpPr>
        <p:spPr>
          <a:xfrm>
            <a:off x="6400800" y="27889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788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B8500"/>
          </a:solidFill>
        </p:spPr>
      </p:sp>
      <p:sp>
        <p:nvSpPr>
          <p:cNvPr id="24" name="Text 22"/>
          <p:cNvSpPr/>
          <p:nvPr/>
        </p:nvSpPr>
        <p:spPr>
          <a:xfrm>
            <a:off x="6400800" y="2788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42900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3840480"/>
            <a:ext cx="2331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integration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connection</a:t>
            </a:r>
            <a:endParaRPr lang="en-US" sz="1150" dirty="0">
              <a:solidFill>
                <a:srgbClr val="6C7A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alt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was completed and fully functional in the simulator</a:t>
            </a:r>
            <a:endParaRPr lang="en-US" altLang="en-US" sz="1150" dirty="0">
              <a:solidFill>
                <a:srgbClr val="6C7A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83980" y="34290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64140" y="1828800"/>
            <a:ext cx="731520" cy="731520"/>
          </a:xfrm>
          <a:prstGeom prst="ellipse">
            <a:avLst/>
          </a:prstGeom>
          <a:solidFill>
            <a:srgbClr val="1B263B"/>
          </a:solidFill>
        </p:spPr>
      </p:sp>
      <p:sp>
        <p:nvSpPr>
          <p:cNvPr id="29" name="Text 27"/>
          <p:cNvSpPr/>
          <p:nvPr/>
        </p:nvSpPr>
        <p:spPr>
          <a:xfrm>
            <a:off x="10264140" y="18288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80" dirty="0"/>
          </a:p>
        </p:txBody>
      </p:sp>
      <p:sp>
        <p:nvSpPr>
          <p:cNvPr id="30" name="Shape 28"/>
          <p:cNvSpPr/>
          <p:nvPr/>
        </p:nvSpPr>
        <p:spPr>
          <a:xfrm>
            <a:off x="9326880" y="27889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326880" y="27889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B263B"/>
          </a:solidFill>
        </p:spPr>
      </p:sp>
      <p:sp>
        <p:nvSpPr>
          <p:cNvPr id="32" name="Text 30"/>
          <p:cNvSpPr/>
          <p:nvPr/>
        </p:nvSpPr>
        <p:spPr>
          <a:xfrm>
            <a:off x="9326880" y="27889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64040" y="342900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464040" y="3751580"/>
            <a:ext cx="2331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</a:t>
            </a:r>
            <a:endParaRPr lang="en-US" sz="11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1150" dirty="0">
              <a:solidFill>
                <a:srgbClr val="6C7A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altLang="en-US" sz="115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code was modified and configured to run on the real robot.</a:t>
            </a:r>
            <a:endParaRPr lang="en-US" altLang="en-US" sz="1150" dirty="0">
              <a:solidFill>
                <a:srgbClr val="6C7A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0" y="2880360"/>
            <a:ext cx="1920240" cy="1920240"/>
          </a:xfrm>
          <a:prstGeom prst="ellipse">
            <a:avLst/>
          </a:prstGeom>
          <a:solidFill>
            <a:srgbClr val="1B263B"/>
          </a:solidFill>
          <a:ln w="25400">
            <a:solidFill>
              <a:srgbClr val="FB8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2880360"/>
            <a:ext cx="19202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JAKA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3A86FF"/>
          </a:solidFill>
        </p:spPr>
      </p:sp>
      <p:sp>
        <p:nvSpPr>
          <p:cNvPr id="8" name="Text 6"/>
          <p:cNvSpPr/>
          <p:nvPr/>
        </p:nvSpPr>
        <p:spPr>
          <a:xfrm>
            <a:off x="548640" y="13716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1945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30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Ubuntu</a:t>
            </a:r>
            <a:endParaRPr lang="en-US" sz="130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30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78240" y="137160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06D6A0"/>
          </a:solidFill>
        </p:spPr>
      </p:sp>
      <p:sp>
        <p:nvSpPr>
          <p:cNvPr id="12" name="Text 10"/>
          <p:cNvSpPr/>
          <p:nvPr/>
        </p:nvSpPr>
        <p:spPr>
          <a:xfrm>
            <a:off x="8778240" y="13716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VISION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06840" y="1965960"/>
            <a:ext cx="21945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</a:t>
            </a:r>
            <a:endParaRPr lang="en-US" sz="130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5166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516636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FB8500"/>
          </a:solidFill>
        </p:spPr>
      </p:sp>
      <p:sp>
        <p:nvSpPr>
          <p:cNvPr id="16" name="Text 14"/>
          <p:cNvSpPr/>
          <p:nvPr/>
        </p:nvSpPr>
        <p:spPr>
          <a:xfrm>
            <a:off x="3383280" y="516636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571500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Humble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•   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MoveIt2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•   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Gazebo Fortress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•   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RViz2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•   </a:t>
            </a: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SDK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92780" y="1993265"/>
            <a:ext cx="2179320" cy="1217295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6900000">
            <a:off x="6800850" y="1960880"/>
            <a:ext cx="2067560" cy="12039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4800600"/>
            <a:ext cx="0" cy="5029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22960" y="22860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230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 &amp; Execution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pipeline was designed, and what was built during the internship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Complete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63040" y="13258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5" name="Shape 3"/>
          <p:cNvSpPr/>
          <p:nvPr/>
        </p:nvSpPr>
        <p:spPr>
          <a:xfrm>
            <a:off x="1463040" y="1325880"/>
            <a:ext cx="109728" cy="548640"/>
          </a:xfrm>
          <a:prstGeom prst="roundRect">
            <a:avLst/>
          </a:prstGeom>
          <a:solidFill>
            <a:srgbClr val="FB8500"/>
          </a:solidFill>
        </p:spPr>
      </p:sp>
      <p:sp>
        <p:nvSpPr>
          <p:cNvPr id="6" name="Text 4"/>
          <p:cNvSpPr/>
          <p:nvPr/>
        </p:nvSpPr>
        <p:spPr>
          <a:xfrm>
            <a:off x="1783080" y="13258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4356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FB8500"/>
          </a:solidFill>
        </p:spPr>
      </p:sp>
      <p:sp>
        <p:nvSpPr>
          <p:cNvPr id="8" name="Text 6"/>
          <p:cNvSpPr/>
          <p:nvPr/>
        </p:nvSpPr>
        <p:spPr>
          <a:xfrm>
            <a:off x="6309360" y="14356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3657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0116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11" name="Shape 9"/>
          <p:cNvSpPr/>
          <p:nvPr/>
        </p:nvSpPr>
        <p:spPr>
          <a:xfrm>
            <a:off x="1463040" y="2011680"/>
            <a:ext cx="109728" cy="548640"/>
          </a:xfrm>
          <a:prstGeom prst="roundRect">
            <a:avLst/>
          </a:prstGeom>
          <a:solidFill>
            <a:srgbClr val="06D6A0"/>
          </a:solidFill>
        </p:spPr>
      </p:sp>
      <p:sp>
        <p:nvSpPr>
          <p:cNvPr id="12" name="Text 10"/>
          <p:cNvSpPr/>
          <p:nvPr/>
        </p:nvSpPr>
        <p:spPr>
          <a:xfrm>
            <a:off x="1783080" y="20116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Object Detection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21214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06D6A0"/>
          </a:solidFill>
        </p:spPr>
      </p:sp>
      <p:sp>
        <p:nvSpPr>
          <p:cNvPr id="14" name="Text 12"/>
          <p:cNvSpPr/>
          <p:nvPr/>
        </p:nvSpPr>
        <p:spPr>
          <a:xfrm>
            <a:off x="6309360" y="21214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3657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63040" y="26974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17" name="Shape 15"/>
          <p:cNvSpPr/>
          <p:nvPr/>
        </p:nvSpPr>
        <p:spPr>
          <a:xfrm>
            <a:off x="1463040" y="2697480"/>
            <a:ext cx="109728" cy="548640"/>
          </a:xfrm>
          <a:prstGeom prst="roundRect">
            <a:avLst/>
          </a:prstGeom>
          <a:solidFill>
            <a:srgbClr val="3A86FF"/>
          </a:solidFill>
        </p:spPr>
      </p:sp>
      <p:sp>
        <p:nvSpPr>
          <p:cNvPr id="18" name="Text 16"/>
          <p:cNvSpPr/>
          <p:nvPr/>
        </p:nvSpPr>
        <p:spPr>
          <a:xfrm>
            <a:off x="1783080" y="26974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Processing Node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28072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3A86FF"/>
          </a:solidFill>
        </p:spPr>
      </p:sp>
      <p:sp>
        <p:nvSpPr>
          <p:cNvPr id="20" name="Text 18"/>
          <p:cNvSpPr/>
          <p:nvPr/>
        </p:nvSpPr>
        <p:spPr>
          <a:xfrm>
            <a:off x="6309360" y="28072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97680" y="3246120"/>
            <a:ext cx="3657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63040" y="33832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23" name="Shape 21"/>
          <p:cNvSpPr/>
          <p:nvPr/>
        </p:nvSpPr>
        <p:spPr>
          <a:xfrm>
            <a:off x="1463040" y="3383280"/>
            <a:ext cx="109728" cy="548640"/>
          </a:xfrm>
          <a:prstGeom prst="roundRect">
            <a:avLst/>
          </a:prstGeom>
          <a:solidFill>
            <a:srgbClr val="3A86FF"/>
          </a:solidFill>
        </p:spPr>
      </p:sp>
      <p:sp>
        <p:nvSpPr>
          <p:cNvPr id="24" name="Text 22"/>
          <p:cNvSpPr/>
          <p:nvPr/>
        </p:nvSpPr>
        <p:spPr>
          <a:xfrm>
            <a:off x="1783080" y="33832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Communication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09360" y="34930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3A86FF"/>
          </a:solidFill>
        </p:spPr>
      </p:sp>
      <p:sp>
        <p:nvSpPr>
          <p:cNvPr id="26" name="Text 24"/>
          <p:cNvSpPr/>
          <p:nvPr/>
        </p:nvSpPr>
        <p:spPr>
          <a:xfrm>
            <a:off x="6309360" y="34930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97680" y="3931920"/>
            <a:ext cx="3657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40690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29" name="Shape 27"/>
          <p:cNvSpPr/>
          <p:nvPr/>
        </p:nvSpPr>
        <p:spPr>
          <a:xfrm>
            <a:off x="1463040" y="4069080"/>
            <a:ext cx="109728" cy="548640"/>
          </a:xfrm>
          <a:prstGeom prst="roundRect">
            <a:avLst/>
          </a:prstGeom>
          <a:solidFill>
            <a:srgbClr val="3A86FF"/>
          </a:solidFill>
        </p:spPr>
      </p:sp>
      <p:sp>
        <p:nvSpPr>
          <p:cNvPr id="30" name="Text 28"/>
          <p:cNvSpPr/>
          <p:nvPr/>
        </p:nvSpPr>
        <p:spPr>
          <a:xfrm>
            <a:off x="1783080" y="40690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Coordinate Processing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309360" y="41788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3A86FF"/>
          </a:solidFill>
        </p:spPr>
      </p:sp>
      <p:sp>
        <p:nvSpPr>
          <p:cNvPr id="32" name="Text 30"/>
          <p:cNvSpPr/>
          <p:nvPr/>
        </p:nvSpPr>
        <p:spPr>
          <a:xfrm>
            <a:off x="6309360" y="41788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0" y="4617720"/>
            <a:ext cx="3657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63040" y="47548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35" name="Shape 33"/>
          <p:cNvSpPr/>
          <p:nvPr/>
        </p:nvSpPr>
        <p:spPr>
          <a:xfrm>
            <a:off x="1463040" y="4754880"/>
            <a:ext cx="109728" cy="548640"/>
          </a:xfrm>
          <a:prstGeom prst="roundRect">
            <a:avLst/>
          </a:prstGeom>
          <a:solidFill>
            <a:srgbClr val="FB8500"/>
          </a:solidFill>
        </p:spPr>
      </p:sp>
      <p:sp>
        <p:nvSpPr>
          <p:cNvPr id="36" name="Text 34"/>
          <p:cNvSpPr/>
          <p:nvPr/>
        </p:nvSpPr>
        <p:spPr>
          <a:xfrm>
            <a:off x="1783080" y="47548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 Control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309360" y="48646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FB8500"/>
          </a:solidFill>
        </p:spPr>
      </p:sp>
      <p:sp>
        <p:nvSpPr>
          <p:cNvPr id="38" name="Text 36"/>
          <p:cNvSpPr/>
          <p:nvPr/>
        </p:nvSpPr>
        <p:spPr>
          <a:xfrm>
            <a:off x="6309360" y="48646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97680" y="5303520"/>
            <a:ext cx="3657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54406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B263B"/>
          </a:solidFill>
        </p:spPr>
      </p:sp>
      <p:sp>
        <p:nvSpPr>
          <p:cNvPr id="41" name="Shape 39"/>
          <p:cNvSpPr/>
          <p:nvPr/>
        </p:nvSpPr>
        <p:spPr>
          <a:xfrm>
            <a:off x="1463040" y="5440680"/>
            <a:ext cx="109728" cy="548640"/>
          </a:xfrm>
          <a:prstGeom prst="roundRect">
            <a:avLst/>
          </a:prstGeom>
          <a:solidFill>
            <a:srgbClr val="FB8500"/>
          </a:solidFill>
        </p:spPr>
      </p:sp>
      <p:sp>
        <p:nvSpPr>
          <p:cNvPr id="42" name="Text 40"/>
          <p:cNvSpPr/>
          <p:nvPr/>
        </p:nvSpPr>
        <p:spPr>
          <a:xfrm>
            <a:off x="1783080" y="54406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Gazebo Simulation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309360" y="5550408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FB8500"/>
          </a:solidFill>
        </p:spPr>
      </p:sp>
      <p:sp>
        <p:nvSpPr>
          <p:cNvPr id="44" name="Text 42"/>
          <p:cNvSpPr/>
          <p:nvPr/>
        </p:nvSpPr>
        <p:spPr>
          <a:xfrm>
            <a:off x="6309360" y="5550408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21040" y="13258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1B263B"/>
          </a:solidFill>
        </p:spPr>
      </p:sp>
      <p:sp>
        <p:nvSpPr>
          <p:cNvPr id="46" name="Text 44"/>
          <p:cNvSpPr/>
          <p:nvPr/>
        </p:nvSpPr>
        <p:spPr>
          <a:xfrm>
            <a:off x="8595360" y="14630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LEGEND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95360" y="18288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A86FF"/>
          </a:solidFill>
        </p:spPr>
      </p:sp>
      <p:sp>
        <p:nvSpPr>
          <p:cNvPr id="48" name="Text 46"/>
          <p:cNvSpPr/>
          <p:nvPr/>
        </p:nvSpPr>
        <p:spPr>
          <a:xfrm>
            <a:off x="8961120" y="180136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95360" y="22128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8500"/>
          </a:solidFill>
        </p:spPr>
      </p:sp>
      <p:sp>
        <p:nvSpPr>
          <p:cNvPr id="50" name="Text 48"/>
          <p:cNvSpPr/>
          <p:nvPr/>
        </p:nvSpPr>
        <p:spPr>
          <a:xfrm>
            <a:off x="8961120" y="21854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595360" y="25968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D6A0"/>
          </a:solidFill>
        </p:spPr>
      </p:sp>
      <p:sp>
        <p:nvSpPr>
          <p:cNvPr id="52" name="Text 50"/>
          <p:cNvSpPr/>
          <p:nvPr/>
        </p:nvSpPr>
        <p:spPr>
          <a:xfrm>
            <a:off x="8961120" y="256946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321040" y="3291840"/>
            <a:ext cx="3291840" cy="2926080"/>
          </a:xfrm>
          <a:prstGeom prst="roundRect">
            <a:avLst>
              <a:gd name="adj" fmla="val 2813"/>
            </a:avLst>
          </a:prstGeom>
          <a:solidFill>
            <a:srgbClr val="1B263B"/>
          </a:solidFill>
        </p:spPr>
      </p:sp>
      <p:sp>
        <p:nvSpPr>
          <p:cNvPr id="54" name="Text 52"/>
          <p:cNvSpPr/>
          <p:nvPr/>
        </p:nvSpPr>
        <p:spPr>
          <a:xfrm>
            <a:off x="8595360" y="34564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SUMMARY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95360" y="379476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D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input is detected and localized by AI, converted into 2-D coordinates, and streamed over ROS2 to drive the JAKA arm inside the Gazebo simulation in real time.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855" y="3623945"/>
            <a:ext cx="6394450" cy="31426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COMPLETED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Environment &amp; Simulation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5" name="Text 3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7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Humble setup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411480" cy="41148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8" name="Text 6"/>
          <p:cNvSpPr/>
          <p:nvPr/>
        </p:nvSpPr>
        <p:spPr>
          <a:xfrm>
            <a:off x="548640" y="2167128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1143000" y="2167128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Gazebo simulation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411480" cy="41148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1" name="Text 9"/>
          <p:cNvSpPr/>
          <p:nvPr/>
        </p:nvSpPr>
        <p:spPr>
          <a:xfrm>
            <a:off x="548640" y="2734056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1143000" y="2734056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RViz visualization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411480" cy="41148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4" name="Text 12"/>
          <p:cNvSpPr/>
          <p:nvPr/>
        </p:nvSpPr>
        <p:spPr>
          <a:xfrm>
            <a:off x="548640" y="3300984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1143000" y="3300984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robot integration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411480" cy="411480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7" name="Text 15"/>
          <p:cNvSpPr/>
          <p:nvPr/>
        </p:nvSpPr>
        <p:spPr>
          <a:xfrm>
            <a:off x="548640" y="386791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1143000" y="3867912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testing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830568" y="464058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210" y="510540"/>
            <a:ext cx="6329045" cy="3113405"/>
          </a:xfrm>
          <a:prstGeom prst="rect">
            <a:avLst/>
          </a:prstGeom>
        </p:spPr>
      </p:pic>
      <p:sp>
        <p:nvSpPr>
          <p:cNvPr id="22" name="Text 20"/>
          <p:cNvSpPr/>
          <p:nvPr/>
        </p:nvSpPr>
        <p:spPr>
          <a:xfrm>
            <a:off x="6126480" y="942467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Gazebo Robot View</a:t>
            </a:r>
            <a:endParaRPr lang="en-US" sz="11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98205" y="395935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RViz Robot Model</a:t>
            </a:r>
            <a:endParaRPr lang="en-US" sz="11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rcRect b="13136"/>
          <a:stretch>
            <a:fillRect/>
          </a:stretch>
        </p:blipFill>
        <p:spPr>
          <a:xfrm>
            <a:off x="2210435" y="4347210"/>
            <a:ext cx="3614420" cy="2494280"/>
          </a:xfrm>
          <a:prstGeom prst="rect">
            <a:avLst/>
          </a:prstGeom>
        </p:spPr>
      </p:pic>
      <p:sp>
        <p:nvSpPr>
          <p:cNvPr id="30" name="Text 28"/>
          <p:cNvSpPr/>
          <p:nvPr/>
        </p:nvSpPr>
        <p:spPr>
          <a:xfrm>
            <a:off x="2695575" y="4070477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ROS2 Nodes</a:t>
            </a:r>
            <a:endParaRPr lang="en-US" sz="11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COMPLETED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Object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Computer Vision Pipeline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6" name="Text 4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acquisition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9" name="Text 7"/>
          <p:cNvSpPr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1097280" y="2404872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detection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2" name="Text 10"/>
          <p:cNvSpPr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1097280" y="2935224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recognition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5" name="Text 13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1097280" y="3465576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 extraction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5120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detects objects and provides their coordinates for robot control.</a:t>
            </a:r>
            <a:endParaRPr lang="en-US" sz="1250" dirty="0"/>
          </a:p>
        </p:txBody>
      </p:sp>
      <p:sp>
        <p:nvSpPr>
          <p:cNvPr id="101" name="Shape Result Card"/>
          <p:cNvSpPr/>
          <p:nvPr/>
        </p:nvSpPr>
        <p:spPr>
          <a:xfrm>
            <a:off x="548640" y="513842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02" name="Text Result Label"/>
          <p:cNvSpPr/>
          <p:nvPr/>
        </p:nvSpPr>
        <p:spPr>
          <a:xfrm>
            <a:off x="731520" y="523024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7A89"/>
                </a:solidFill>
                <a:latin typeface="Calibri" panose="020F0502020204030204" pitchFamily="34" charset="0"/>
              </a:rPr>
              <a:t>SAMPLE DETECTION RESULT</a:t>
            </a:r>
            <a:endParaRPr lang="en-US" sz="1000" dirty="0"/>
          </a:p>
        </p:txBody>
      </p:sp>
      <p:sp>
        <p:nvSpPr>
          <p:cNvPr id="103" name="Text Result Value"/>
          <p:cNvSpPr/>
          <p:nvPr/>
        </p:nvSpPr>
        <p:spPr>
          <a:xfrm>
            <a:off x="731520" y="55448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anose="02040503050406030204" pitchFamily="34" charset="0"/>
              </a:rPr>
              <a:t>Teddy Bear</a:t>
            </a:r>
            <a:r>
              <a:rPr lang="en-US" sz="1400" dirty="0">
                <a:solidFill>
                  <a:srgbClr val="6C7A89"/>
                </a:solidFill>
                <a:latin typeface="Calibri" panose="020F0502020204030204" pitchFamily="34" charset="0"/>
              </a:rPr>
              <a:t>   •   83% confidence   •   (x, y) = (53, -32)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693420"/>
            <a:ext cx="6423660" cy="92011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20520"/>
            <a:ext cx="5303520" cy="48082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643360" y="653796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22960" y="2286000"/>
            <a:ext cx="2743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230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Reflection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faced, outcomes achieved, and what was delivered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OBSTACLES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Encountered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ROS2 Environment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E76F51"/>
          </a:solidFill>
        </p:spPr>
      </p:sp>
      <p:sp>
        <p:nvSpPr>
          <p:cNvPr id="7" name="Text 5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installation and dependencies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0" name="Text 8"/>
          <p:cNvSpPr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and troubleshooting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Gazebo Simulation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384048" cy="384048"/>
          </a:xfrm>
          <a:prstGeom prst="ellipse">
            <a:avLst/>
          </a:prstGeom>
          <a:solidFill>
            <a:srgbClr val="E76F51"/>
          </a:solidFill>
        </p:spPr>
      </p:sp>
      <p:sp>
        <p:nvSpPr>
          <p:cNvPr id="15" name="Text 13"/>
          <p:cNvSpPr/>
          <p:nvPr/>
        </p:nvSpPr>
        <p:spPr>
          <a:xfrm>
            <a:off x="6537960" y="21031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7040880" y="210312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and package issues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2880360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8" name="Text 16"/>
          <p:cNvSpPr/>
          <p:nvPr/>
        </p:nvSpPr>
        <p:spPr>
          <a:xfrm>
            <a:off x="6537960" y="28803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7040880" y="288036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launch files and configurations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5079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526280"/>
            <a:ext cx="384048" cy="384048"/>
          </a:xfrm>
          <a:prstGeom prst="ellipse">
            <a:avLst/>
          </a:prstGeom>
          <a:solidFill>
            <a:srgbClr val="E76F51"/>
          </a:solidFill>
        </p:spPr>
      </p:sp>
      <p:sp>
        <p:nvSpPr>
          <p:cNvPr id="23" name="Text 21"/>
          <p:cNvSpPr/>
          <p:nvPr/>
        </p:nvSpPr>
        <p:spPr>
          <a:xfrm>
            <a:off x="822960" y="45262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090" dirty="0"/>
          </a:p>
        </p:txBody>
      </p:sp>
      <p:sp>
        <p:nvSpPr>
          <p:cNvPr id="24" name="Text 22"/>
          <p:cNvSpPr/>
          <p:nvPr/>
        </p:nvSpPr>
        <p:spPr>
          <a:xfrm>
            <a:off x="1325880" y="452628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 compatibility issues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26" name="Text 24"/>
          <p:cNvSpPr/>
          <p:nvPr/>
        </p:nvSpPr>
        <p:spPr>
          <a:xfrm>
            <a:off x="822960" y="53035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27" name="Text 25"/>
          <p:cNvSpPr/>
          <p:nvPr/>
        </p:nvSpPr>
        <p:spPr>
          <a:xfrm>
            <a:off x="1325880" y="530352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Managing Python dependencies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405079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Camera &amp; Calibration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37960" y="4526280"/>
            <a:ext cx="384048" cy="384048"/>
          </a:xfrm>
          <a:prstGeom prst="ellipse">
            <a:avLst/>
          </a:prstGeom>
          <a:solidFill>
            <a:srgbClr val="E76F51"/>
          </a:solidFill>
        </p:spPr>
      </p:sp>
      <p:sp>
        <p:nvSpPr>
          <p:cNvPr id="31" name="Text 29"/>
          <p:cNvSpPr/>
          <p:nvPr/>
        </p:nvSpPr>
        <p:spPr>
          <a:xfrm>
            <a:off x="6537960" y="45262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7040880" y="452628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Connecting vision information with robot coordinates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5303520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34" name="Text 32"/>
          <p:cNvSpPr/>
          <p:nvPr/>
        </p:nvSpPr>
        <p:spPr>
          <a:xfrm>
            <a:off x="6537960" y="53035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35" name="Text 33"/>
          <p:cNvSpPr/>
          <p:nvPr/>
        </p:nvSpPr>
        <p:spPr>
          <a:xfrm>
            <a:off x="7040880" y="5303520"/>
            <a:ext cx="4343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and improving coordinate mapping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5" name="Text 3"/>
          <p:cNvSpPr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480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robotic simulation environment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438912" cy="43891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8" name="Text 6"/>
          <p:cNvSpPr/>
          <p:nvPr/>
        </p:nvSpPr>
        <p:spPr>
          <a:xfrm>
            <a:off x="548640" y="222199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2221992"/>
            <a:ext cx="4480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object detection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438912" cy="43891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1" name="Text 9"/>
          <p:cNvSpPr/>
          <p:nvPr/>
        </p:nvSpPr>
        <p:spPr>
          <a:xfrm>
            <a:off x="548640" y="284378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2843784"/>
            <a:ext cx="4480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communication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438912" cy="43891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4" name="Text 12"/>
          <p:cNvSpPr/>
          <p:nvPr/>
        </p:nvSpPr>
        <p:spPr>
          <a:xfrm>
            <a:off x="548640" y="346557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465576"/>
            <a:ext cx="4480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coordinates transmission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438912" cy="438912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7" name="Text 15"/>
          <p:cNvSpPr/>
          <p:nvPr/>
        </p:nvSpPr>
        <p:spPr>
          <a:xfrm>
            <a:off x="548640" y="4087368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4087368"/>
            <a:ext cx="44805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 movement toward detected objects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874520"/>
            <a:ext cx="731520" cy="7315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6" name="Text 4"/>
          <p:cNvSpPr/>
          <p:nvPr/>
        </p:nvSpPr>
        <p:spPr>
          <a:xfrm>
            <a:off x="1440180" y="18745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83380" y="1874520"/>
            <a:ext cx="731520" cy="731520"/>
          </a:xfrm>
          <a:prstGeom prst="ellipse">
            <a:avLst/>
          </a:prstGeom>
          <a:solidFill>
            <a:srgbClr val="FB8500"/>
          </a:solidFill>
        </p:spPr>
      </p:sp>
      <p:sp>
        <p:nvSpPr>
          <p:cNvPr id="10" name="Text 8"/>
          <p:cNvSpPr/>
          <p:nvPr/>
        </p:nvSpPr>
        <p:spPr>
          <a:xfrm>
            <a:off x="4183380" y="18745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2080" dirty="0"/>
          </a:p>
        </p:txBody>
      </p:sp>
      <p:sp>
        <p:nvSpPr>
          <p:cNvPr id="11" name="Text 9"/>
          <p:cNvSpPr/>
          <p:nvPr/>
        </p:nvSpPr>
        <p:spPr>
          <a:xfrm>
            <a:off x="3383280" y="278892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Workspace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26580" y="1874520"/>
            <a:ext cx="731520" cy="731520"/>
          </a:xfrm>
          <a:prstGeom prst="ellipse">
            <a:avLst/>
          </a:prstGeom>
          <a:solidFill>
            <a:srgbClr val="1B263B"/>
          </a:solidFill>
        </p:spPr>
      </p:sp>
      <p:sp>
        <p:nvSpPr>
          <p:cNvPr id="14" name="Text 12"/>
          <p:cNvSpPr/>
          <p:nvPr/>
        </p:nvSpPr>
        <p:spPr>
          <a:xfrm>
            <a:off x="6926580" y="18745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≡</a:t>
            </a:r>
            <a:endParaRPr lang="en-US" sz="2080" dirty="0"/>
          </a:p>
        </p:txBody>
      </p:sp>
      <p:sp>
        <p:nvSpPr>
          <p:cNvPr id="15" name="Text 13"/>
          <p:cNvSpPr/>
          <p:nvPr/>
        </p:nvSpPr>
        <p:spPr>
          <a:xfrm>
            <a:off x="6126480" y="278892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69780" y="1874520"/>
            <a:ext cx="731520" cy="731520"/>
          </a:xfrm>
          <a:prstGeom prst="ellipse">
            <a:avLst/>
          </a:prstGeom>
          <a:solidFill>
            <a:srgbClr val="3A86FF"/>
          </a:solidFill>
        </p:spPr>
      </p:sp>
      <p:sp>
        <p:nvSpPr>
          <p:cNvPr id="18" name="Text 16"/>
          <p:cNvSpPr/>
          <p:nvPr/>
        </p:nvSpPr>
        <p:spPr>
          <a:xfrm>
            <a:off x="9669780" y="187452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◈</a:t>
            </a:r>
            <a:endParaRPr lang="en-US" sz="2080" dirty="0"/>
          </a:p>
        </p:txBody>
      </p:sp>
      <p:sp>
        <p:nvSpPr>
          <p:cNvPr id="19" name="Text 17"/>
          <p:cNvSpPr/>
          <p:nvPr/>
        </p:nvSpPr>
        <p:spPr>
          <a:xfrm>
            <a:off x="8869680" y="278892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40180" y="402336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◉</a:t>
            </a:r>
            <a:endParaRPr lang="en-US" sz="2080" dirty="0"/>
          </a:p>
        </p:txBody>
      </p:sp>
      <p:sp>
        <p:nvSpPr>
          <p:cNvPr id="24" name="Shape 22"/>
          <p:cNvSpPr/>
          <p:nvPr/>
        </p:nvSpPr>
        <p:spPr>
          <a:xfrm>
            <a:off x="3291840" y="37490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83380" y="4023360"/>
            <a:ext cx="731520" cy="731520"/>
          </a:xfrm>
          <a:prstGeom prst="ellipse">
            <a:avLst/>
          </a:prstGeom>
          <a:solidFill>
            <a:srgbClr val="FB8500"/>
          </a:solidFill>
        </p:spPr>
      </p:sp>
      <p:sp>
        <p:nvSpPr>
          <p:cNvPr id="26" name="Text 24"/>
          <p:cNvSpPr/>
          <p:nvPr/>
        </p:nvSpPr>
        <p:spPr>
          <a:xfrm>
            <a:off x="4183380" y="402336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2080" dirty="0"/>
          </a:p>
        </p:txBody>
      </p:sp>
      <p:sp>
        <p:nvSpPr>
          <p:cNvPr id="27" name="Text 25"/>
          <p:cNvSpPr/>
          <p:nvPr/>
        </p:nvSpPr>
        <p:spPr>
          <a:xfrm>
            <a:off x="3383280" y="493776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Demo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5040" y="37490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26580" y="4023360"/>
            <a:ext cx="731520" cy="731520"/>
          </a:xfrm>
          <a:prstGeom prst="ellipse">
            <a:avLst/>
          </a:prstGeom>
          <a:solidFill>
            <a:srgbClr val="1B263B"/>
          </a:solidFill>
        </p:spPr>
      </p:sp>
      <p:sp>
        <p:nvSpPr>
          <p:cNvPr id="30" name="Text 28"/>
          <p:cNvSpPr/>
          <p:nvPr/>
        </p:nvSpPr>
        <p:spPr>
          <a:xfrm>
            <a:off x="6926580" y="402336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▤</a:t>
            </a:r>
            <a:endParaRPr lang="en-US" sz="2080" dirty="0"/>
          </a:p>
        </p:txBody>
      </p:sp>
      <p:sp>
        <p:nvSpPr>
          <p:cNvPr id="31" name="Text 29"/>
          <p:cNvSpPr/>
          <p:nvPr/>
        </p:nvSpPr>
        <p:spPr>
          <a:xfrm>
            <a:off x="6126480" y="493776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3749040"/>
          </a:xfrm>
          <a:prstGeom prst="roundRect">
            <a:avLst>
              <a:gd name="adj" fmla="val 2439"/>
            </a:avLst>
          </a:prstGeom>
          <a:solidFill>
            <a:srgbClr val="18242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2834640"/>
            <a:ext cx="1005840" cy="1005840"/>
          </a:xfrm>
          <a:prstGeom prst="ellipse">
            <a:avLst/>
          </a:prstGeom>
          <a:solidFill>
            <a:srgbClr val="FB8500"/>
          </a:solidFill>
        </p:spPr>
      </p:sp>
      <p:sp>
        <p:nvSpPr>
          <p:cNvPr id="6" name="Text 4"/>
          <p:cNvSpPr/>
          <p:nvPr/>
        </p:nvSpPr>
        <p:spPr>
          <a:xfrm>
            <a:off x="3429000" y="28346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CA0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demo shows: object detection • coordinate extraction • ROS2 communication • robot movement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86200" cy="3749040"/>
          </a:xfrm>
          <a:prstGeom prst="roundRect">
            <a:avLst>
              <a:gd name="adj" fmla="val 2195"/>
            </a:avLst>
          </a:prstGeom>
          <a:solidFill>
            <a:srgbClr val="1B263B"/>
          </a:solidFill>
        </p:spPr>
      </p:sp>
      <p:sp>
        <p:nvSpPr>
          <p:cNvPr id="10" name="Text 8"/>
          <p:cNvSpPr/>
          <p:nvPr/>
        </p:nvSpPr>
        <p:spPr>
          <a:xfrm>
            <a:off x="8001000" y="1554480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REAL ROBOT DEMO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1920240"/>
            <a:ext cx="3429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physical JAKA Mini 2 demonstration will be recorded and uploaded to Google Drive after the lab session.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3246120"/>
            <a:ext cx="3429000" cy="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34290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01000" y="3703320"/>
            <a:ext cx="3429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1109960" y="2926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8242F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09960" y="29260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</a:t>
            </a:r>
            <a:endParaRPr lang="en-US" sz="1300" dirty="0"/>
          </a:p>
        </p:txBody>
      </p:sp>
      <p:pic>
        <p:nvPicPr>
          <p:cNvPr id="15" name="screen-recording-2026-08-02-165735_RlZldRJW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404725" cy="685800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4090670" y="45593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Simulation Demonstration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3246120" cy="594360"/>
          </a:xfrm>
          <a:prstGeom prst="roundRect">
            <a:avLst>
              <a:gd name="adj" fmla="val 13846"/>
            </a:avLst>
          </a:prstGeom>
          <a:solidFill>
            <a:srgbClr val="1B263B"/>
          </a:solidFill>
        </p:spPr>
      </p:sp>
      <p:sp>
        <p:nvSpPr>
          <p:cNvPr id="5" name="Text 3"/>
          <p:cNvSpPr/>
          <p:nvPr/>
        </p:nvSpPr>
        <p:spPr>
          <a:xfrm>
            <a:off x="777240" y="1600200"/>
            <a:ext cx="3246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560320"/>
            <a:ext cx="278892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Simulation-based detection</a:t>
            </a:r>
            <a:endParaRPr lang="en-US" sz="125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ROS2 pipeline validated</a:t>
            </a:r>
            <a:endParaRPr lang="en-US" sz="1250" dirty="0">
              <a:solidFill>
                <a:srgbClr val="1B26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Real robot deployment</a:t>
            </a:r>
            <a:endParaRPr lang="en-US" sz="1250" dirty="0"/>
          </a:p>
          <a:p>
            <a:pPr indent="0">
              <a:lnSpc>
                <a:spcPct val="150000"/>
              </a:lnSpc>
              <a:buSzPct val="100000"/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33088" y="1600200"/>
            <a:ext cx="4663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246120" cy="594360"/>
          </a:xfrm>
          <a:prstGeom prst="roundRect">
            <a:avLst>
              <a:gd name="adj" fmla="val 13846"/>
            </a:avLst>
          </a:prstGeom>
          <a:solidFill>
            <a:srgbClr val="3A86FF"/>
          </a:solidFill>
        </p:spPr>
      </p:sp>
      <p:sp>
        <p:nvSpPr>
          <p:cNvPr id="10" name="Text 8"/>
          <p:cNvSpPr/>
          <p:nvPr/>
        </p:nvSpPr>
        <p:spPr>
          <a:xfrm>
            <a:off x="4709160" y="1600200"/>
            <a:ext cx="3246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33172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560320"/>
            <a:ext cx="278892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calibration improvement</a:t>
            </a:r>
            <a:endParaRPr lang="en-US" sz="125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coordinate transformation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65008" y="1600200"/>
            <a:ext cx="4663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41080" y="1600200"/>
            <a:ext cx="3246120" cy="594360"/>
          </a:xfrm>
          <a:prstGeom prst="roundRect">
            <a:avLst>
              <a:gd name="adj" fmla="val 13846"/>
            </a:avLst>
          </a:prstGeom>
          <a:solidFill>
            <a:srgbClr val="06D6A0"/>
          </a:solidFill>
        </p:spPr>
      </p:sp>
      <p:sp>
        <p:nvSpPr>
          <p:cNvPr id="15" name="Text 13"/>
          <p:cNvSpPr/>
          <p:nvPr/>
        </p:nvSpPr>
        <p:spPr>
          <a:xfrm>
            <a:off x="8641080" y="1600200"/>
            <a:ext cx="3246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Autonomous Robot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41080" y="233172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63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2560320"/>
            <a:ext cx="278892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visual servoing loop</a:t>
            </a:r>
            <a:endParaRPr lang="en-US" sz="1250" dirty="0"/>
          </a:p>
          <a:p>
            <a:pPr marL="152400" indent="-152400">
              <a:lnSpc>
                <a:spcPct val="150000"/>
              </a:lnSpc>
              <a:buSzPct val="100000"/>
              <a:buChar char="▪"/>
            </a:pPr>
            <a:r>
              <a:rPr lang="en-US" sz="12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analysis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C7A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demonstrated the integration of: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D6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Artificial Intelligence</a:t>
            </a:r>
            <a:r>
              <a:rPr lang="en-US" sz="2600" dirty="0">
                <a:solidFill>
                  <a:srgbClr val="AAB8C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+  </a:t>
            </a:r>
            <a:r>
              <a:rPr lang="en-US" sz="2600" b="1" dirty="0">
                <a:solidFill>
                  <a:srgbClr val="3A86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Computer Vision</a:t>
            </a:r>
            <a:r>
              <a:rPr lang="en-US" sz="2600" dirty="0">
                <a:solidFill>
                  <a:srgbClr val="AAB8C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+  </a:t>
            </a:r>
            <a:r>
              <a:rPr lang="en-US" sz="2600" b="1" dirty="0">
                <a:solidFill>
                  <a:srgbClr val="FB85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6" name="Text 4"/>
          <p:cNvSpPr/>
          <p:nvPr/>
        </p:nvSpPr>
        <p:spPr>
          <a:xfrm>
            <a:off x="822960" y="26517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5943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working blueprint for vision-guided automation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218688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9" name="Text 7"/>
          <p:cNvSpPr/>
          <p:nvPr/>
        </p:nvSpPr>
        <p:spPr>
          <a:xfrm>
            <a:off x="822960" y="32186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5943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transferable to real industrial cobots like JAKA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85616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2" name="Text 10"/>
          <p:cNvSpPr/>
          <p:nvPr/>
        </p:nvSpPr>
        <p:spPr>
          <a:xfrm>
            <a:off x="822960" y="378561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1371600" y="3785616"/>
            <a:ext cx="5943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experience across AI, robotics &amp; systems integration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06D6A0"/>
          </a:solidFill>
        </p:spPr>
      </p:sp>
      <p:sp>
        <p:nvSpPr>
          <p:cNvPr id="15" name="Text 13"/>
          <p:cNvSpPr/>
          <p:nvPr/>
        </p:nvSpPr>
        <p:spPr>
          <a:xfrm>
            <a:off x="822960" y="435254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1371600" y="4352544"/>
            <a:ext cx="5943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strong stepping stone toward a robotics/AI career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778240" y="2468880"/>
            <a:ext cx="3108960" cy="3108960"/>
          </a:xfrm>
          <a:prstGeom prst="ellipse">
            <a:avLst/>
          </a:prstGeom>
          <a:ln w="19050">
            <a:solidFill>
              <a:srgbClr val="3A8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2926080"/>
            <a:ext cx="2194560" cy="2194560"/>
          </a:xfrm>
          <a:prstGeom prst="ellipse">
            <a:avLst/>
          </a:prstGeom>
          <a:ln w="1905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9800" y="352044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FB8500"/>
          </a:solidFill>
        </p:spPr>
      </p:sp>
      <p:sp>
        <p:nvSpPr>
          <p:cNvPr id="20" name="Text 18"/>
          <p:cNvSpPr/>
          <p:nvPr/>
        </p:nvSpPr>
        <p:spPr>
          <a:xfrm>
            <a:off x="9829800" y="352044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■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8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JAKA MINI 2 — CAMERA-BASED ROBOT ALIGNMENT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4645</Words>
  <Application>WPS Presentation</Application>
  <PresentationFormat>On-screen Show (16:9)</PresentationFormat>
  <Paragraphs>517</Paragraphs>
  <Slides>17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Yosser Kallel</cp:lastModifiedBy>
  <cp:revision>8</cp:revision>
  <dcterms:created xsi:type="dcterms:W3CDTF">2026-08-01T21:48:00Z</dcterms:created>
  <dcterms:modified xsi:type="dcterms:W3CDTF">2026-08-03T17:46:43Z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1B2B9AF4482B4699BE1F0E26D4895F5A_12</vt:lpwstr>
  </property>
</Properties>
</file>